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8_DD093E7F.xml" ContentType="application/vnd.ms-powerpoint.comments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4"/>
    <p:sldMasterId id="2147483656" r:id="rId5"/>
  </p:sldMasterIdLst>
  <p:notesMasterIdLst>
    <p:notesMasterId r:id="rId24"/>
  </p:notesMasterIdLst>
  <p:handoutMasterIdLst>
    <p:handoutMasterId r:id="rId25"/>
  </p:handoutMasterIdLst>
  <p:sldIdLst>
    <p:sldId id="262" r:id="rId6"/>
    <p:sldId id="260" r:id="rId7"/>
    <p:sldId id="278" r:id="rId8"/>
    <p:sldId id="265" r:id="rId9"/>
    <p:sldId id="276" r:id="rId10"/>
    <p:sldId id="264" r:id="rId11"/>
    <p:sldId id="277" r:id="rId12"/>
    <p:sldId id="266" r:id="rId13"/>
    <p:sldId id="273" r:id="rId14"/>
    <p:sldId id="269" r:id="rId15"/>
    <p:sldId id="268" r:id="rId16"/>
    <p:sldId id="271" r:id="rId17"/>
    <p:sldId id="270" r:id="rId18"/>
    <p:sldId id="274" r:id="rId19"/>
    <p:sldId id="272" r:id="rId20"/>
    <p:sldId id="275" r:id="rId21"/>
    <p:sldId id="263" r:id="rId22"/>
    <p:sldId id="259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B41D7C39-C45F-42D4-8BC6-268D0C7F0CC2}">
          <p14:sldIdLst>
            <p14:sldId id="262"/>
            <p14:sldId id="260"/>
            <p14:sldId id="278"/>
            <p14:sldId id="265"/>
            <p14:sldId id="276"/>
            <p14:sldId id="264"/>
            <p14:sldId id="277"/>
            <p14:sldId id="266"/>
            <p14:sldId id="273"/>
            <p14:sldId id="269"/>
            <p14:sldId id="268"/>
            <p14:sldId id="271"/>
            <p14:sldId id="270"/>
            <p14:sldId id="274"/>
            <p14:sldId id="272"/>
            <p14:sldId id="275"/>
            <p14:sldId id="263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52E3C8-B138-0578-56E8-E18A4574ADC3}" name="Jakub Hradil" initials="JH" userId="S::hra0279@vsb.cz::22f0518c-0d70-4b5f-b9cf-8088d3be26f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786F3C-FC8D-22B3-7332-D645D7366220}" v="83" dt="2026-04-18T13:45:16.144"/>
    <p1510:client id="{9A0CE794-BBE0-01AB-BDD4-52F5BD6EA663}" v="4" dt="2026-04-16T14:31:03.156"/>
    <p1510:client id="{DD5580EF-D433-C387-86F2-9F068CC0068E}" v="94" dt="2026-04-16T15:05:35.7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3"/>
  </p:normalViewPr>
  <p:slideViewPr>
    <p:cSldViewPr snapToGrid="0" snapToObjects="1" showGuides="1">
      <p:cViewPr varScale="1">
        <p:scale>
          <a:sx n="115" d="100"/>
          <a:sy n="115" d="100"/>
        </p:scale>
        <p:origin x="744" y="72"/>
      </p:cViewPr>
      <p:guideLst>
        <p:guide orient="horz" pos="21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omments/modernComment_108_DD093E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941203F-53B6-41AE-84C4-6DEE5A8C52E4}" authorId="{7952E3C8-B138-0578-56E8-E18A4574ADC3}" created="2026-04-16T14:30:36.984">
    <pc:sldMkLst xmlns:pc="http://schemas.microsoft.com/office/powerpoint/2013/main/command">
      <pc:docMk/>
      <pc:sldMk cId="3708370559" sldId="264"/>
    </pc:sldMkLst>
    <p188:txBody>
      <a:bodyPr/>
      <a:lstStyle/>
      <a:p>
        <a:r>
          <a:rPr lang="cs-CZ"/>
          <a:t>Původní slide kdyby náhodou, v prezentaci skrytý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A7E84B11-8086-A046-B6B7-F7A9DB5EAD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E5F8304-EF8E-7A48-A3EC-256BB4EB24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46FA-9F78-5A43-BFD1-03D27A7F3C92}" type="datetimeFigureOut">
              <a:rPr lang="cs-CZ" smtClean="0"/>
              <a:t>18.04.2026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CE85A97-9D2F-A74D-874B-B462CB8C63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B02496D-CD03-4446-AD06-43B91E1688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CC9C5-FF55-F544-A6D3-2B14C7549C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42182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2D10F-BC7E-0545-A8D3-D708044527A6}" type="datetimeFigureOut">
              <a:rPr lang="cs-CZ" smtClean="0"/>
              <a:t>18.04.2026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cs-CZ"/>
              <a:t>Upravte styly předlohy textu.
Druhá úroveň
Třetí úroveň
Čtvrtá úroveň
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77E90-4C3A-1A40-BB34-28A95E688A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024213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4867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3763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49D4D9A-0EBF-1E44-82EE-7C7911531D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6024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2F60A5-AF07-B541-AE6A-88569EB76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845" y="1122363"/>
            <a:ext cx="11807825" cy="2054225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2AB18D6-A597-8B4E-A383-BD55E7799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845" y="3602037"/>
            <a:ext cx="11797067" cy="259873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DE463D-611E-7641-BE67-E50FAADA5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AFFB-D433-B047-9BA8-E42A060EB3E7}" type="datetime3">
              <a:rPr lang="cs-CZ" smtClean="0"/>
              <a:t>18/04/26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1BC9F34-E144-0247-B652-197C07073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76199" y="6356349"/>
            <a:ext cx="9896625" cy="320377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C838B55-B834-7B40-AB95-C477904C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392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C6A7C0-0649-6040-A91B-A51D8870E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670A8E-FAF4-EB48-A95A-5A580126D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65CAB9C-0386-8B4F-99ED-91992F80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33C643-BAC6-384B-8391-4C4A373E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E1B1056-E9A4-E849-AFE0-99640ED4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8123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501A35-F9F4-C746-910A-0AB6C44A2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1593868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E501E6E-0516-434B-9AFD-79C0FAE7D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497" y="2807746"/>
            <a:ext cx="11796416" cy="337790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AAA1F3-AAB7-A046-B5C1-7E0FED02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18/04/26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7E67D82-BA89-E943-BE3E-6FD326C1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47011"/>
            <a:ext cx="9937749" cy="318604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35E7D21-DA7F-BC4B-ADBF-66F03AA0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38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E10C0C-49DB-714B-8253-3919EEAB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6" y="1054247"/>
            <a:ext cx="11799716" cy="1021977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E45FF5-CFF7-BC4B-BE44-7DE11320B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2846" y="2162287"/>
            <a:ext cx="5785204" cy="401467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0186BD-CCF8-814D-8F98-56078DF4C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49" y="2162285"/>
            <a:ext cx="5795963" cy="403849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0C9FC7B-3212-0C45-8BA4-BD25FC408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B60A-F8EB-A649-BA02-2207FB45044B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B71C6E2-9DD7-8649-B049-1FBCF5CC8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2876"/>
            <a:ext cx="9937749" cy="312739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AD2E780-8CA4-694B-B7E2-70742E384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043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9E3C6D-02AA-BD44-84A9-B919C331D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315A8E6-4C0A-AA4C-9079-37AC2872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160E-3D53-D847-9A74-1C37BCEA757F}" type="datetime3">
              <a:rPr lang="cs-CZ" smtClean="0"/>
              <a:t>18/04/26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8BB6F38-4D44-9840-89C1-FF42C22B0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2876"/>
            <a:ext cx="9937749" cy="312739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03DEF9F-619E-514F-B49B-61758FC0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244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414C914-950A-7942-B0E9-3FEB6F7F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BDC4E-A034-0F4F-963D-96AE1C40BED7}" type="datetime3">
              <a:rPr lang="cs-CZ" smtClean="0"/>
              <a:t>18/04/26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DCF0096-0579-6045-8D0F-A71D6439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E670FDF-F365-974E-B39A-0DEC9CD46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7089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8A41D-18F5-2B4E-BE99-D6457D846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0582C-01B7-3F42-AD28-9B7DF4DD5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C3A37-4F77-534E-9AF3-D82BFE15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18.04.2026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DCCB8-70AD-574C-9AA9-B02DA9D9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3117F-487E-494C-9FA1-CB037C2C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9165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56EA4-94EE-9E4C-9451-0C053C35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0C682-265E-EE41-A540-118A3A390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DCE98-8002-BC4F-85CF-80F1678C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18.04.2026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00820-F6DD-5A4F-80F7-CAC42703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03D53-E799-BF42-83F0-6B6D5E02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410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D3AB-3AE5-6C49-B89B-0B3333B9A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51D72-6450-1245-B950-D14EEE9BC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A13D4-2C24-4B4C-A527-27123477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18.04.2026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6D41A-5F70-D542-B768-4CA673DB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84A22-3709-7E43-ADD3-04B31F1D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1223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5BBB-390C-8746-8F6D-62B6435F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52AC7-CCB6-7743-BA17-958390688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134D6-2490-5248-8BDE-DBC857FAD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26196-17B1-8245-A58A-F8CFE526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18.04.2026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613EA-3698-4344-847F-E2367A8E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66FBF-FFBF-9746-9924-D6ECC8F2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0720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15BE-E091-174E-9BC7-1C1BCA6DC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7750E-8FBE-E846-AB80-9F86414BC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1511B-D22A-1245-A98E-3D2AFE55B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5B39B-BFEB-134C-AB6F-4AB601CED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821D6-D3D4-CF41-A511-5A5AC1081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5C7EB4-86D6-B743-9954-71FAD9D04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18.04.2026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364A0-F572-C149-849B-B307CD8B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F28744-8951-9A4F-A3AA-DD575AE0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792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72057-05C0-D143-BA44-BD676CD9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18.04.2026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BE2FB-8405-5C4E-A05E-0DC323AF6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D6ECD-2072-7649-8717-F6947C57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2331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499B7-157B-F045-9923-D12EED65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47F9E-6176-9946-A28B-E20C2D515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D7A46-18AB-7B43-B05D-7EC3E7A0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18.04.2026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A48DC-3CD9-9542-B18D-D6CC3077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A9E0-9FA1-6145-9530-79E7D73F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850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6D6CC12-ACA0-634F-80C9-398209300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6" y="1054247"/>
            <a:ext cx="11798620" cy="10219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cs-CZ" dirty="0"/>
              <a:t>Nadpis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7F40DBE-8FC7-7448-B1A4-0F1683F3C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1294" y="2229316"/>
            <a:ext cx="11798619" cy="3973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cs-CZ" dirty="0"/>
              <a:t>Upravte styly předlohy textu.
Druhá úroveň
Třetí úroveň
Čtvrtá úroveň
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6F516F3-F99B-5944-9236-CEAA13395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3497" y="6356350"/>
            <a:ext cx="926054" cy="312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D0002-C91F-8548-89A7-9BF65FF7DADF}" type="datetime3">
              <a:rPr lang="cs-CZ" smtClean="0"/>
              <a:t>18/04/26</a:t>
            </a:fld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6D98F16-2029-8D49-91DD-2C737D88D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213" y="6356349"/>
            <a:ext cx="612775" cy="312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44BAA-1A06-B141-8215-9D88CF6A7203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D62A909B-22CA-3945-A5C2-F5DBFE050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37129" y="6356351"/>
            <a:ext cx="9935695" cy="312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text</a:t>
            </a:r>
            <a:endParaRPr lang="cs-CZ" dirty="0"/>
          </a:p>
        </p:txBody>
      </p:sp>
      <p:pic>
        <p:nvPicPr>
          <p:cNvPr id="113" name="Obrázek 112" descr="Obsah obrázku objekt&#10;&#10;&#10;&#10;Popis se vygeneroval automaticky.">
            <a:extLst>
              <a:ext uri="{FF2B5EF4-FFF2-40B4-BE49-F238E27FC236}">
                <a16:creationId xmlns:a16="http://schemas.microsoft.com/office/drawing/2014/main" id="{54F6AF1C-4EC2-DE46-BAB8-1CDC1100616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02846" y="199669"/>
            <a:ext cx="62230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19" userDrawn="1">
          <p15:clr>
            <a:srgbClr val="F26B43"/>
          </p15:clr>
        </p15:guide>
        <p15:guide id="4" orient="horz" pos="4201" userDrawn="1">
          <p15:clr>
            <a:srgbClr val="F26B43"/>
          </p15:clr>
        </p15:guide>
        <p15:guide id="5" pos="121" userDrawn="1">
          <p15:clr>
            <a:srgbClr val="F26B43"/>
          </p15:clr>
        </p15:guide>
        <p15:guide id="6" pos="7559" userDrawn="1">
          <p15:clr>
            <a:srgbClr val="F26B43"/>
          </p15:clr>
        </p15:guide>
        <p15:guide id="7" pos="3772" userDrawn="1">
          <p15:clr>
            <a:srgbClr val="F26B43"/>
          </p15:clr>
        </p15:guide>
        <p15:guide id="8" pos="3908" userDrawn="1">
          <p15:clr>
            <a:srgbClr val="F26B43"/>
          </p15:clr>
        </p15:guide>
        <p15:guide id="9" orient="horz" pos="2001" userDrawn="1">
          <p15:clr>
            <a:srgbClr val="F26B43"/>
          </p15:clr>
        </p15:guide>
        <p15:guide id="10" pos="7151" userDrawn="1">
          <p15:clr>
            <a:srgbClr val="F26B43"/>
          </p15:clr>
        </p15:guide>
        <p15:guide id="11" pos="7038" userDrawn="1">
          <p15:clr>
            <a:srgbClr val="F26B43"/>
          </p15:clr>
        </p15:guide>
        <p15:guide id="12" orient="horz" pos="3997" userDrawn="1">
          <p15:clr>
            <a:srgbClr val="F26B43"/>
          </p15:clr>
        </p15:guide>
        <p15:guide id="13" pos="3659" userDrawn="1">
          <p15:clr>
            <a:srgbClr val="F26B43"/>
          </p15:clr>
        </p15:guide>
        <p15:guide id="14" orient="horz" pos="2432" userDrawn="1">
          <p15:clr>
            <a:srgbClr val="F26B43"/>
          </p15:clr>
        </p15:guide>
        <p15:guide id="15" orient="horz" pos="3906" userDrawn="1">
          <p15:clr>
            <a:srgbClr val="F26B43"/>
          </p15:clr>
        </p15:guide>
        <p15:guide id="16" orient="horz" pos="527" userDrawn="1">
          <p15:clr>
            <a:srgbClr val="F26B43"/>
          </p15:clr>
        </p15:guide>
        <p15:guide id="17" orient="horz" pos="663" userDrawn="1">
          <p15:clr>
            <a:srgbClr val="F26B43"/>
          </p15:clr>
        </p15:guide>
        <p15:guide id="18" pos="710" userDrawn="1">
          <p15:clr>
            <a:srgbClr val="F26B43"/>
          </p15:clr>
        </p15:guide>
        <p15:guide id="19" pos="77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2C198-AF9F-0A41-9A82-28EC7DDD7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5F5F5-E124-A54B-9981-D7FA5E3DE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942D7-B669-9940-B52D-60CF522EFE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BC748-752E-9E47-952B-1B6B12A8FBCB}" type="datetimeFigureOut">
              <a:rPr lang="cs-CZ" smtClean="0"/>
              <a:t>18.04.2026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2DEF7-65E0-8647-8D41-57980F1E5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E33C7-0C21-634B-9232-89AED6692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9919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3" r:id="rId6"/>
    <p:sldLayoutId id="214748366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08_DD093E7F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31BD6DA5-9406-D149-A9F0-945994702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6156960"/>
            <a:ext cx="1651000" cy="190500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8AA61AF7-0A68-1346-8A03-3E8C31A1B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899340"/>
            <a:ext cx="5334000" cy="111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7B8831-8F35-FF42-902D-9F4408DAA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6650" y="2748070"/>
            <a:ext cx="73787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75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6C7814-19D0-D044-AD35-ED9091139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175" y="1731963"/>
            <a:ext cx="11807825" cy="2054225"/>
          </a:xfrm>
        </p:spPr>
        <p:txBody>
          <a:bodyPr/>
          <a:lstStyle/>
          <a:p>
            <a:r>
              <a:rPr lang="cs-CZ" sz="4800" dirty="0">
                <a:solidFill>
                  <a:srgbClr val="00A499"/>
                </a:solidFill>
              </a:rPr>
              <a:t>Vývoj demonstračního firmware pro výukovou desku s platformou ESP32</a:t>
            </a:r>
            <a:br>
              <a:rPr lang="cs-CZ" sz="4800" dirty="0">
                <a:solidFill>
                  <a:srgbClr val="00A499"/>
                </a:solidFill>
              </a:rPr>
            </a:br>
            <a:endParaRPr lang="cs-CZ" sz="4800" b="0" dirty="0">
              <a:solidFill>
                <a:srgbClr val="00A499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3462E6A-BA43-6348-924A-E49976C56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00096" y="4675338"/>
            <a:ext cx="11797067" cy="1177353"/>
          </a:xfrm>
        </p:spPr>
        <p:txBody>
          <a:bodyPr>
            <a:normAutofit/>
          </a:bodyPr>
          <a:lstStyle/>
          <a:p>
            <a:pPr lvl="2" algn="l"/>
            <a:r>
              <a:rPr lang="cs-CZ" sz="2000" dirty="0"/>
              <a:t>Autor: Jakub Hradil, HRA0279</a:t>
            </a:r>
          </a:p>
          <a:p>
            <a:pPr lvl="2" algn="l"/>
            <a:r>
              <a:rPr lang="cs-CZ" sz="2000" dirty="0"/>
              <a:t>Vedoucí práce: Ing. Daniel Barvík, Ph.D.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8121F1-3D8E-594F-90DB-4F0B98C01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AFFB-D433-B047-9BA8-E42A060EB3E7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4A7925D-4BBE-3C40-9FF4-E30546487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</a:t>
            </a:fld>
            <a:endParaRPr lang="cs-CZ"/>
          </a:p>
        </p:txBody>
      </p:sp>
      <p:sp>
        <p:nvSpPr>
          <p:cNvPr id="7" name="Zástupný symbol pro zápatí 4">
            <a:extLst>
              <a:ext uri="{FF2B5EF4-FFF2-40B4-BE49-F238E27FC236}">
                <a16:creationId xmlns:a16="http://schemas.microsoft.com/office/drawing/2014/main" id="{A9A7E915-7024-418A-B21C-CECE54CC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solidFill>
                  <a:srgbClr val="898989"/>
                </a:solidFill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164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3D872-9A37-ABCE-7635-711A7C0E4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C65DDB-D12D-8AE3-0868-F215E2D1C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>
                <a:solidFill>
                  <a:srgbClr val="00A499"/>
                </a:solidFill>
                <a:latin typeface="Calibri"/>
                <a:ea typeface="Calibri"/>
                <a:cs typeface="Calibri"/>
              </a:rPr>
              <a:t>Cíl práce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708C0B-3D98-7F7B-9B98-BC5D0F6FC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sz="2400">
                <a:latin typeface="Calibri"/>
                <a:ea typeface="Calibri"/>
                <a:cs typeface="Calibri"/>
              </a:rPr>
              <a:t>1. Návrh a implementace demonstračního firmware s interaktivním menu pro přehledný výběr funkcí.</a:t>
            </a:r>
            <a:endParaRPr lang="pl-PL" sz="24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pl-PL" sz="2400">
                <a:latin typeface="Calibri"/>
                <a:ea typeface="Calibri"/>
                <a:cs typeface="Calibri"/>
              </a:rPr>
              <a:t>2. Návrh a realizace modulů pro ovládání LED diod, dotykových senzorů a IMU jednotky.</a:t>
            </a:r>
            <a:endParaRPr lang="pl-PL"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pl-PL" sz="2400">
                <a:latin typeface="Calibri"/>
                <a:ea typeface="Calibri"/>
                <a:cs typeface="Calibri"/>
              </a:rPr>
              <a:t>3. Příprava žádosti pro etickou komisi.</a:t>
            </a:r>
            <a:endParaRPr lang="pl-PL"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pl-PL" sz="2400">
                <a:latin typeface="Calibri"/>
                <a:ea typeface="Calibri"/>
                <a:cs typeface="Calibri"/>
              </a:rPr>
              <a:t>4. Návrh a implementace firmware pro digitalizaci biosignálů se zobrazením.</a:t>
            </a:r>
            <a:endParaRPr lang="pl-PL"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pl-PL" sz="2400">
                <a:latin typeface="Calibri"/>
                <a:ea typeface="Calibri"/>
                <a:cs typeface="Calibri"/>
              </a:rPr>
              <a:t>5. Experimentální ověření funkčnosti zobrazení dat na OLED displeji a ovládání hardware.</a:t>
            </a:r>
            <a:endParaRPr lang="pl-PL">
              <a:ea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l-PL" sz="2400">
                <a:latin typeface="Calibri"/>
                <a:ea typeface="Calibri"/>
                <a:cs typeface="Calibri"/>
              </a:rPr>
              <a:t>6. Integrace a testování bezdrátové komunikace pomocí Bluetooth a WiFi/MQTT protokolu.</a:t>
            </a:r>
            <a:endParaRPr lang="pl-PL">
              <a:ea typeface="Calibri" panose="020F0502020204030204" pitchFamily="34" charset="0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1BF013D-7B6E-89B5-D81C-D6E1E2CAF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63A3775-33F2-6DD0-08EF-786E8A26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2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114B8616-32A8-5C04-296E-0FBCA3E4F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146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7F375-10AB-1200-1502-5904A2C6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FEDD6E-E2B3-9EB6-25F1-182433ED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>
                <a:solidFill>
                  <a:srgbClr val="00A499"/>
                </a:solidFill>
                <a:latin typeface="Calibri"/>
                <a:ea typeface="Calibri"/>
                <a:cs typeface="Calibri"/>
              </a:rPr>
              <a:t>Přehled hardware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12E87B9-FEDD-336B-5D77-1EA274768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5073785" cy="3973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Mikrokontrolér ESP32</a:t>
            </a:r>
            <a:endParaRPr lang="pl-PL" sz="2400" dirty="0"/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OLED displej (128x64px)</a:t>
            </a:r>
            <a:endParaRPr lang="pl-PL" sz="2400">
              <a:ea typeface="Calibri"/>
            </a:endParaRP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Tlačítka a kapacitní dotykový senzor</a:t>
            </a:r>
            <a:endParaRPr lang="pl-PL" sz="2400">
              <a:ea typeface="Calibri"/>
            </a:endParaRPr>
          </a:p>
          <a:p>
            <a:pPr>
              <a:lnSpc>
                <a:spcPct val="100000"/>
              </a:lnSpc>
            </a:pPr>
            <a:r>
              <a:rPr lang="pl-PL" sz="2400" dirty="0"/>
              <a:t>Fotodioda a infračervená/červená dioda</a:t>
            </a: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IMU jednotka MPU6050</a:t>
            </a:r>
            <a:endParaRPr lang="pl-PL" sz="2400">
              <a:ea typeface="Calibri"/>
            </a:endParaRP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RGB LED WS2812B</a:t>
            </a:r>
            <a:endParaRPr lang="pl-PL" sz="2400">
              <a:ea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3C842A-66F1-0271-7371-CC8657BF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BCB7237-5D1A-7A3E-A878-D6A7497D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3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50D47A4B-D6A2-70ED-F160-91B48277A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5" name="Obrázek 4" descr="Obsah obrázku elektronika, text, Elektronické inženýrství, Elektronické zařízení&#10;&#10;Obsah generovaný pomocí AI může být nesprávný.">
            <a:extLst>
              <a:ext uri="{FF2B5EF4-FFF2-40B4-BE49-F238E27FC236}">
                <a16:creationId xmlns:a16="http://schemas.microsoft.com/office/drawing/2014/main" id="{0D29B95C-AFB5-B19A-B078-30498B7DD0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02" t="15287" r="15030" b="22930"/>
          <a:stretch>
            <a:fillRect/>
          </a:stretch>
        </p:blipFill>
        <p:spPr>
          <a:xfrm>
            <a:off x="5173257" y="1794063"/>
            <a:ext cx="6797179" cy="389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71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8BC7E-6C03-87E3-3B22-D7E1A5BF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47AD29-2581-039F-D030-A5A8CA9B0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>
                <a:solidFill>
                  <a:srgbClr val="00A499"/>
                </a:solidFill>
                <a:latin typeface="Calibri"/>
                <a:ea typeface="Calibri"/>
                <a:cs typeface="Calibri"/>
              </a:rPr>
              <a:t>Přehled hardware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6D1C5E-692D-4570-AF6C-1DC909A56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Mikrokontrolér ESP32</a:t>
            </a:r>
            <a:endParaRPr lang="cs-CZ">
              <a:ea typeface="Calibri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ea typeface="Calibri"/>
                <a:cs typeface="Calibri"/>
              </a:rPr>
              <a:t>Dvoujádrový mikrokontrolér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ea typeface="Calibri"/>
                <a:cs typeface="Calibri"/>
              </a:rPr>
              <a:t>Integrované WiFi a Bluetooth</a:t>
            </a: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OLED displej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latin typeface="Calibri"/>
                <a:ea typeface="Calibri"/>
                <a:cs typeface="Calibri"/>
              </a:rPr>
              <a:t>Rozlišení 128x64 pixelů</a:t>
            </a:r>
            <a:endParaRPr lang="pl-PL" dirty="0">
              <a:latin typeface="Calibri"/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latin typeface="Calibri"/>
                <a:ea typeface="Calibri"/>
                <a:cs typeface="Calibri"/>
              </a:rPr>
              <a:t>Komunikace pomocí I2C sběrnice</a:t>
            </a:r>
            <a:endParaRPr lang="pl-PL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Senzory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latin typeface="Calibri"/>
                <a:ea typeface="Calibri"/>
                <a:cs typeface="Calibri"/>
              </a:rPr>
              <a:t>PPG: měření pulzní křivky pomocí fotodiody a červené/infračervené diody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latin typeface="Calibri"/>
                <a:ea typeface="Calibri"/>
                <a:cs typeface="Calibri"/>
              </a:rPr>
              <a:t>MPU6050: akcelerometr a gyroskop pro měření náklonu</a:t>
            </a:r>
            <a:endParaRPr lang="pl-PL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24D4187-330F-0144-4908-B63E23D44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AAB9FB2-4707-C4CB-4723-569D043B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4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C51D5A58-77BA-DB18-E4C5-3C414F7E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651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E3B0F8C-242F-1CD9-BCDB-D27D4AE5B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943E93-53D0-38C7-6895-E0297CC73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6" y="690105"/>
            <a:ext cx="11798620" cy="1021977"/>
          </a:xfrm>
        </p:spPr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Architektura systému</a:t>
            </a:r>
            <a:endParaRPr lang="cs-CZ" sz="4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665F3D6-37E5-8BD2-DB86-62FA7CF9C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4C7A8E-18E3-EF9F-5B8B-077A9B53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5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CA4B1078-310C-6A3E-00DA-6F891FF5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0" name="Obrázek 9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173C906C-4D0E-FFBF-8C4B-F054E36D3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963" y="323681"/>
            <a:ext cx="4422980" cy="5711629"/>
          </a:xfrm>
          <a:prstGeom prst="rect">
            <a:avLst/>
          </a:prstGeom>
        </p:spPr>
      </p:pic>
      <p:sp>
        <p:nvSpPr>
          <p:cNvPr id="14" name="TextovéPole 13">
            <a:extLst>
              <a:ext uri="{FF2B5EF4-FFF2-40B4-BE49-F238E27FC236}">
                <a16:creationId xmlns:a16="http://schemas.microsoft.com/office/drawing/2014/main" id="{9D7D6447-F29D-788C-74AD-D9F7674AE6A6}"/>
              </a:ext>
            </a:extLst>
          </p:cNvPr>
          <p:cNvSpPr txBox="1"/>
          <p:nvPr/>
        </p:nvSpPr>
        <p:spPr>
          <a:xfrm>
            <a:off x="462238" y="1839708"/>
            <a:ext cx="4881236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Systém postavený na FreeRTOS (Free Real Time Operating Systém)</a:t>
            </a:r>
          </a:p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Každý modul běžící jako vlastní úloha řížená Hlavním menu</a:t>
            </a:r>
          </a:p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Komunikace mezi softwarem a hardwarem zajištěna pomocí modulu </a:t>
            </a:r>
            <a:r>
              <a:rPr lang="cs-CZ" sz="2400" i="1">
                <a:ea typeface="Calibri"/>
                <a:cs typeface="Calibri"/>
              </a:rPr>
              <a:t>Controls</a:t>
            </a:r>
            <a:endParaRPr lang="cs-CZ" sz="2400" i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83705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B0EF-2F6F-8DE9-DF2E-7DDF06C4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EE39E7-7DFD-8350-9EBC-8EB6A8374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6" y="690105"/>
            <a:ext cx="11798620" cy="1021977"/>
          </a:xfrm>
        </p:spPr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Architektura systému</a:t>
            </a:r>
            <a:endParaRPr lang="cs-CZ" sz="4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961C605-DCE5-7B66-A1FD-4104CD499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D5FE650-6F71-DE56-D60B-72F5E803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6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7193979B-AF03-CD1D-35BB-D0CD551B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0" name="Obrázek 9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8D6C41B9-436F-4516-DEF4-3D5C92FD84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9" b="38303"/>
          <a:stretch>
            <a:fillRect/>
          </a:stretch>
        </p:blipFill>
        <p:spPr>
          <a:xfrm>
            <a:off x="5346185" y="1067873"/>
            <a:ext cx="6307796" cy="4995106"/>
          </a:xfrm>
          <a:prstGeom prst="rect">
            <a:avLst/>
          </a:prstGeom>
        </p:spPr>
      </p:pic>
      <p:sp>
        <p:nvSpPr>
          <p:cNvPr id="14" name="TextovéPole 13">
            <a:extLst>
              <a:ext uri="{FF2B5EF4-FFF2-40B4-BE49-F238E27FC236}">
                <a16:creationId xmlns:a16="http://schemas.microsoft.com/office/drawing/2014/main" id="{DB2D2781-E443-76E7-4833-0ADAFE9A0F83}"/>
              </a:ext>
            </a:extLst>
          </p:cNvPr>
          <p:cNvSpPr txBox="1"/>
          <p:nvPr/>
        </p:nvSpPr>
        <p:spPr>
          <a:xfrm>
            <a:off x="462238" y="1839708"/>
            <a:ext cx="4881236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Systém postavený na FreeRTOS (Free Real Time Operating Systém)</a:t>
            </a:r>
          </a:p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Každý modul běžící jako vlastní úloha řížená Hlavním menu</a:t>
            </a:r>
          </a:p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Komunikace mezi softwarem a hardwarem zajištěna pomocí modulu </a:t>
            </a:r>
            <a:r>
              <a:rPr lang="cs-CZ" sz="2400" i="1">
                <a:ea typeface="Calibri"/>
                <a:cs typeface="Calibri"/>
              </a:rPr>
              <a:t>Controls</a:t>
            </a:r>
            <a:endParaRPr lang="cs-CZ" sz="2400" i="1" dirty="0">
              <a:ea typeface="Calibri"/>
              <a:cs typeface="Calibri"/>
            </a:endParaRPr>
          </a:p>
        </p:txBody>
      </p:sp>
      <p:pic>
        <p:nvPicPr>
          <p:cNvPr id="5" name="Obrázek 4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F72F39BE-C74B-F03C-96B3-F3966679B3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2" t="61797" r="164" b="-132"/>
          <a:stretch>
            <a:fillRect/>
          </a:stretch>
        </p:blipFill>
        <p:spPr>
          <a:xfrm>
            <a:off x="5354239" y="1417664"/>
            <a:ext cx="6303857" cy="310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2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550B4-F040-252B-C2D5-D6E2F67C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12763F-0217-405B-ED5C-7CFD925D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Ovládání systému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A45242-A838-3C2A-732F-44323F9A8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5998542" cy="3973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Tlačítka D16 a D17 pro navigaci v menu a ovládání vybraných modulů</a:t>
            </a:r>
            <a:endParaRPr lang="pl-PL" sz="2400" dirty="0"/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Kapacitní dotykový senzor slouží k potvrzení volby uživatele</a:t>
            </a:r>
            <a:endParaRPr lang="pl-PL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Paralelně je možné zařízení ovládat také prostřednictvím webového rozhraní</a:t>
            </a:r>
            <a:endParaRPr lang="pl-PL"/>
          </a:p>
          <a:p>
            <a:pPr>
              <a:lnSpc>
                <a:spcPct val="100000"/>
              </a:lnSpc>
            </a:pPr>
            <a:endParaRPr lang="pl-PL" sz="2400" dirty="0">
              <a:solidFill>
                <a:srgbClr val="000000"/>
              </a:solidFill>
              <a:highlight>
                <a:srgbClr val="FF0000"/>
              </a:highlight>
              <a:ea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04BE811-C28A-CD9A-BB6B-45172429F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5FB24BB-3E08-9210-C37F-53B48A7AA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7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35B9A0DD-B5DD-3C73-4B83-E125DA0F9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7F551549-72F9-C798-882F-4130BE724AD1}"/>
              </a:ext>
            </a:extLst>
          </p:cNvPr>
          <p:cNvSpPr/>
          <p:nvPr/>
        </p:nvSpPr>
        <p:spPr>
          <a:xfrm>
            <a:off x="6203781" y="1568129"/>
            <a:ext cx="5472902" cy="41416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3098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0C27-FB6A-1829-789E-DEA2595C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889EB8-D481-A73C-3ED4-C49B18122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Webové rozhraní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3117FB-5AC1-1A5F-7C53-7B57590D0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HTTP asynchronní server na ESP32 po konzultaci s vedoucím práce místo MQTT serveru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Komunikace pomocí HTTP požadavků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Data ve formátu JSON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Synchronizace s lokálním ovládáním na výukové desce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Aktualizace pomocí JavaScriptu</a:t>
            </a:r>
          </a:p>
          <a:p>
            <a:pPr>
              <a:lnSpc>
                <a:spcPct val="100000"/>
              </a:lnSpc>
            </a:pPr>
            <a:endParaRPr lang="pl-PL" sz="2400" dirty="0">
              <a:highlight>
                <a:srgbClr val="FF0000"/>
              </a:highlight>
              <a:ea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6411A16-2D95-4C68-4EAE-B8AA24C51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F2810C2-5252-32E6-C393-9722121A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8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FF9393EC-4D0D-9D11-7F4E-402BCA5E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5" name="Obrázek 4" descr="Obsah obrázku text, Písmo, snímek obrazovky, bílé&#10;&#10;Obsah generovaný pomocí AI může být nesprávný.">
            <a:extLst>
              <a:ext uri="{FF2B5EF4-FFF2-40B4-BE49-F238E27FC236}">
                <a16:creationId xmlns:a16="http://schemas.microsoft.com/office/drawing/2014/main" id="{9E89CDF0-8865-F1DB-2D88-4816916D8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90" y="3015958"/>
            <a:ext cx="3983946" cy="2904940"/>
          </a:xfrm>
          <a:prstGeom prst="rect">
            <a:avLst/>
          </a:prstGeom>
        </p:spPr>
      </p:pic>
      <p:sp>
        <p:nvSpPr>
          <p:cNvPr id="7" name="Šipka: doprava 6">
            <a:extLst>
              <a:ext uri="{FF2B5EF4-FFF2-40B4-BE49-F238E27FC236}">
                <a16:creationId xmlns:a16="http://schemas.microsoft.com/office/drawing/2014/main" id="{703681AA-98C4-969B-7F6E-3E1D7C6AFE99}"/>
              </a:ext>
            </a:extLst>
          </p:cNvPr>
          <p:cNvSpPr/>
          <p:nvPr/>
        </p:nvSpPr>
        <p:spPr>
          <a:xfrm>
            <a:off x="3346595" y="3315155"/>
            <a:ext cx="4252592" cy="2311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1650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58E11-7FAA-B13D-7B66-A0D8B1AD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6DA9F3-9328-85FC-9FB4-262CFA57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Moduly</a:t>
            </a:r>
            <a:endParaRPr lang="cs-CZ" sz="4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C3A13A7-21E7-B8B0-CD5E-305B7455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8763E0B-5D2A-D406-B611-2C49764E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9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2C20090B-5EF3-57BE-3F06-35B8869D2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3" name="Obrázek 2" descr="Obsah obrázku text, snímek obrazovky, diagram, Písmo&#10;&#10;Obsah generovaný pomocí AI může být nesprávný.">
            <a:extLst>
              <a:ext uri="{FF2B5EF4-FFF2-40B4-BE49-F238E27FC236}">
                <a16:creationId xmlns:a16="http://schemas.microsoft.com/office/drawing/2014/main" id="{9B146F4B-9C16-34A3-C888-DFCC56B1F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002" y="899049"/>
            <a:ext cx="5500732" cy="546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95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DF6A3-81DD-8A10-7F96-26F0C8C5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F90B7E-C819-1FBD-3A49-5F7FCA75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PPG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6A3D23-2724-8BF4-A245-B0EB7CCC4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7951629" cy="3973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Měření fotopletysmografické křivky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startu modulu výzva uživatele k přiložení prstu, až poté probíhá měření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Výsledná křivka zobrazena na OLED, výpočet BPM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Menu obsahující kalibraci, autozoom, návrat do modulu a ukončení</a:t>
            </a:r>
            <a:endParaRPr lang="pl-PL" sz="2400" dirty="0">
              <a:highlight>
                <a:srgbClr val="FF0000"/>
              </a:highlight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B3F0EAE-9057-3F5D-3192-36E6073B2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35B079F-06BB-20C9-4F9D-47AD6164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10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DD4195ED-06AE-2C5F-B6E3-4A3303F7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76361B7D-E759-709B-9387-AB455FEE2FE0}"/>
              </a:ext>
            </a:extLst>
          </p:cNvPr>
          <p:cNvSpPr/>
          <p:nvPr/>
        </p:nvSpPr>
        <p:spPr>
          <a:xfrm>
            <a:off x="2647493" y="4834251"/>
            <a:ext cx="2920803" cy="1523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0" name="Obrázek 9" descr="Obsah obrázku text, snímek obrazovky, software, Multimediální software&#10;&#10;Obsah generovaný pomocí AI může být nesprávný.">
            <a:extLst>
              <a:ext uri="{FF2B5EF4-FFF2-40B4-BE49-F238E27FC236}">
                <a16:creationId xmlns:a16="http://schemas.microsoft.com/office/drawing/2014/main" id="{0590628D-A863-A32E-987B-DB443D080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582" y="67433"/>
            <a:ext cx="2927633" cy="672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25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743FF-F539-F00B-57DB-52ECD1F53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625E40-81DF-6215-078A-9244E98D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MPU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5D5201-7D25-52F3-A28E-A880940E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7250254" cy="248365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Měření náklonu pomocí senzoru MPU6050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startu modulu je zobrazena kulička na středu displeje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Pohyb kuličky odpovídá náklonu senzoru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Použití komplementárního filtru pro korekci chybovosti gyroskopu</a:t>
            </a:r>
          </a:p>
          <a:p>
            <a:pPr marL="0" indent="0">
              <a:lnSpc>
                <a:spcPct val="100000"/>
              </a:lnSpc>
              <a:buNone/>
            </a:pPr>
            <a:endParaRPr lang="pl-PL" sz="2400" dirty="0">
              <a:ea typeface="Calibri" panose="020F0502020204030204" pitchFamily="34" charset="0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F061F9D-2D98-8342-244A-2704103A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708BB39-0A5F-2201-3AAC-5F82A39C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11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2BB3A099-38B9-D53D-2846-48C952A0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9663354D-777F-571F-C881-49A9819A502E}"/>
              </a:ext>
            </a:extLst>
          </p:cNvPr>
          <p:cNvSpPr/>
          <p:nvPr/>
        </p:nvSpPr>
        <p:spPr>
          <a:xfrm>
            <a:off x="2667724" y="4834251"/>
            <a:ext cx="2920803" cy="1523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9" name="Obrázek 8" descr="Obsah obrázku text, snímek obrazovky, Multimediální software&#10;&#10;Obsah generovaný pomocí AI může být nesprávný.">
            <a:extLst>
              <a:ext uri="{FF2B5EF4-FFF2-40B4-BE49-F238E27FC236}">
                <a16:creationId xmlns:a16="http://schemas.microsoft.com/office/drawing/2014/main" id="{DD8A7641-0600-E4C5-AF11-1A1BBFECE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258" y="94406"/>
            <a:ext cx="3969803" cy="667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02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D9BE-E0CE-2B5C-DB04-701C825E3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8906E6-A604-E5AE-B0F8-B2580CE6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</a:t>
            </a:r>
            <a:r>
              <a:rPr lang="cs-CZ" sz="4400" dirty="0" err="1">
                <a:solidFill>
                  <a:srgbClr val="00A499"/>
                </a:solidFill>
              </a:rPr>
              <a:t>Snake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44E88D-0B0D-5878-894B-C8C39FAFA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080962"/>
            <a:ext cx="7258242" cy="275339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Implementace hry had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startu uživatel v menu modulu, zde možnost spustit hru, vstoupit do nastavení a opustit modul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V nastavení změna obtížnosti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spuštění hry pomocí tlačítek D16 a D17 ovládání hada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Kolize se sebou nebo stěnou znamená konec hry</a:t>
            </a:r>
          </a:p>
          <a:p>
            <a:pPr>
              <a:lnSpc>
                <a:spcPct val="100000"/>
              </a:lnSpc>
            </a:pPr>
            <a:endParaRPr lang="pl-PL" sz="2400" dirty="0">
              <a:highlight>
                <a:srgbClr val="FF0000"/>
              </a:highlight>
              <a:ea typeface="Calibri"/>
            </a:endParaRPr>
          </a:p>
          <a:p>
            <a:pPr>
              <a:lnSpc>
                <a:spcPct val="100000"/>
              </a:lnSpc>
            </a:pPr>
            <a:endParaRPr lang="pl-PL" sz="2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2B7FBBA-5293-D161-D679-D977C40DF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0C0A605-9D3F-C80B-D04D-E58AEE2F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12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DF764D82-F094-BFE4-67B6-C16D1A000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022DE386-3048-32FC-16E7-CFE7837F7FA0}"/>
              </a:ext>
            </a:extLst>
          </p:cNvPr>
          <p:cNvSpPr/>
          <p:nvPr/>
        </p:nvSpPr>
        <p:spPr>
          <a:xfrm>
            <a:off x="2667725" y="4834251"/>
            <a:ext cx="2920803" cy="1523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9" name="Obrázek 8" descr="Obsah obrázku text, snímek obrazovky, Písmo, design&#10;&#10;Obsah generovaný pomocí AI může být nesprávný.">
            <a:extLst>
              <a:ext uri="{FF2B5EF4-FFF2-40B4-BE49-F238E27FC236}">
                <a16:creationId xmlns:a16="http://schemas.microsoft.com/office/drawing/2014/main" id="{03E06CD4-6354-8EE6-9E48-9E3321A86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006" y="94406"/>
            <a:ext cx="3404978" cy="667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08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8000F-FF83-FBD4-74D8-7D673A45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945A0C-8703-F3F9-3F6A-FF92D522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RGB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6EA888-62F8-63AD-0B7B-A25CA3042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6796027" cy="261178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Ovládání barvy LED diody WS2812B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startu modulu uživatel prezentovát s třemi posuvníky, resetem a opuštěním modulu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Každý posuvník odpovídá barevnému kanálu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Každý krok posuvníku odpovídá změně intenzity barevného kanálu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Reset vynuluje všechny hodnoty</a:t>
            </a:r>
          </a:p>
          <a:p>
            <a:pPr>
              <a:lnSpc>
                <a:spcPct val="100000"/>
              </a:lnSpc>
            </a:pPr>
            <a:endParaRPr lang="pl-PL" sz="2400" dirty="0">
              <a:highlight>
                <a:srgbClr val="FF0000"/>
              </a:highlight>
              <a:ea typeface="Calibri"/>
            </a:endParaRPr>
          </a:p>
          <a:p>
            <a:pPr>
              <a:lnSpc>
                <a:spcPct val="100000"/>
              </a:lnSpc>
            </a:pPr>
            <a:endParaRPr lang="pl-PL" sz="2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9942F16-ED84-C395-8EC5-C677CD12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771E9AA-615E-0D92-59F2-AB39D48C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13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5741A5D9-0DA5-2764-DA47-8CFE71C1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188F2FA5-1FCA-B093-48A1-0189A20710D5}"/>
              </a:ext>
            </a:extLst>
          </p:cNvPr>
          <p:cNvSpPr/>
          <p:nvPr/>
        </p:nvSpPr>
        <p:spPr>
          <a:xfrm>
            <a:off x="2654237" y="4834251"/>
            <a:ext cx="2920803" cy="1523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9" name="Obrázek 8" descr="Obsah obrázku text, snímek obrazovky, design&#10;&#10;Obsah generovaný pomocí AI může být nesprávný.">
            <a:extLst>
              <a:ext uri="{FF2B5EF4-FFF2-40B4-BE49-F238E27FC236}">
                <a16:creationId xmlns:a16="http://schemas.microsoft.com/office/drawing/2014/main" id="{AA7F15C7-3DFE-EF1C-3F14-D269FE6E3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222" y="101150"/>
            <a:ext cx="4405556" cy="66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02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52D7C-18F0-2E80-4A33-2A0FDC3B2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2AA1D5-B1CE-4726-03DE-9803F75F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Nastavení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3CA6FD-3694-AD15-E562-917DE9341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7648309" cy="260504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Servisní modul programu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Slouží ke změně názvu WiFi, Bluetooth a výpisu stavu ESP32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Připojení pomocí Bluetooth sériové linky/USB sériové linky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Při používání Bluetooth dochází k vypnutí WiFi a webového serveru</a:t>
            </a:r>
          </a:p>
          <a:p>
            <a:pPr>
              <a:lnSpc>
                <a:spcPct val="100000"/>
              </a:lnSpc>
            </a:pPr>
            <a:endParaRPr lang="pl-PL" sz="2400" dirty="0">
              <a:highlight>
                <a:srgbClr val="FF0000"/>
              </a:highlight>
              <a:ea typeface="Calibri"/>
            </a:endParaRPr>
          </a:p>
          <a:p>
            <a:pPr>
              <a:lnSpc>
                <a:spcPct val="100000"/>
              </a:lnSpc>
            </a:pPr>
            <a:endParaRPr lang="pl-PL" sz="2400" dirty="0"/>
          </a:p>
          <a:p>
            <a:pPr>
              <a:lnSpc>
                <a:spcPct val="100000"/>
              </a:lnSpc>
            </a:pPr>
            <a:endParaRPr lang="pl-PL" sz="2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7116122-2872-CB5D-B2CF-5FBD7627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7BCA53-EBDB-AD4C-2764-6AFA7F3F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14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515C1EE7-3295-0258-B66A-4E4AF541A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CB6BD1E9-776F-D7FD-B59E-D45E2FABE966}"/>
              </a:ext>
            </a:extLst>
          </p:cNvPr>
          <p:cNvSpPr/>
          <p:nvPr/>
        </p:nvSpPr>
        <p:spPr>
          <a:xfrm>
            <a:off x="2647493" y="4834251"/>
            <a:ext cx="2920803" cy="1523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9359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01EF8-435D-403C-0E8E-5A92D4BF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85AA50-4652-06DB-D2FC-435F5F33E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Závěr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A34ACF-78D5-C39C-12A1-122CB44D7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Demonstrační firmware vhodný pro prezentaci na DOD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Jednoduchost uživatelského ovládání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Možnost ovládání pomocí výukové desky nebo webového rozhraní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0EFE0CE-E93B-7567-C25A-C46ADDB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DDAE4A7-7AF4-E8C2-11AD-5E896ABD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15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D59AB083-FDE2-6833-893D-C79D6FD2D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3232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6E10EB-58F0-47B3-B528-176CB6F1F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Cíl práce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54FE2CD-618F-4CD8-927E-533157DC2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10099292" cy="397394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l-PL" sz="2400">
                <a:latin typeface="Calibri"/>
                <a:ea typeface="Calibri"/>
                <a:cs typeface="Calibri"/>
              </a:rPr>
              <a:t>Byl navržen a implementován demonstrační firmware s interaktivním menu pro přehledný výběr funkcí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Byly navrženy a realizovány moduly pro ovládání LED diod, dotykových senzorů a IMU jednotky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Byla připravena žádost pro etickou komisi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 navržen a implementován firmware pro digitalizaci biosignálů se zobrazením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Byla experimentálně ověřena funkčnost zobrazení dat na OLED displeji a ovládání hardware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Byla provedena integrace a testování bezdrátové komunikace pomocí Bluetooth a WiFi</a:t>
            </a:r>
            <a:endParaRPr lang="cs-CZ">
              <a:latin typeface="Calibri"/>
              <a:ea typeface="Calibri"/>
            </a:endParaRPr>
          </a:p>
          <a:p>
            <a:endParaRPr lang="pl-PL" sz="2400" dirty="0">
              <a:ea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C996C7B-0740-401E-9F87-D6626CB80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18/04/26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EA380C6-537A-404E-B70A-E12EDE9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16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76D40924-30E9-4F3F-B8CF-3656FCA0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7" name="Obrázek 6" descr="Obsah obrázku Grafika, origami&#10;&#10;Obsah generovaný pomocí AI může být nesprávný.">
            <a:extLst>
              <a:ext uri="{FF2B5EF4-FFF2-40B4-BE49-F238E27FC236}">
                <a16:creationId xmlns:a16="http://schemas.microsoft.com/office/drawing/2014/main" id="{54E2981B-A8A1-4C9A-E4D3-EA271359D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821" y="2226573"/>
            <a:ext cx="600075" cy="476250"/>
          </a:xfrm>
          <a:prstGeom prst="rect">
            <a:avLst/>
          </a:prstGeom>
        </p:spPr>
      </p:pic>
      <p:pic>
        <p:nvPicPr>
          <p:cNvPr id="9" name="Obrázek 8" descr="Obsah obrázku Grafika, origami&#10;&#10;Obsah generovaný pomocí AI může být nesprávný.">
            <a:extLst>
              <a:ext uri="{FF2B5EF4-FFF2-40B4-BE49-F238E27FC236}">
                <a16:creationId xmlns:a16="http://schemas.microsoft.com/office/drawing/2014/main" id="{5C0E5FF3-0B4B-9F68-6AF1-C7F8BFFD3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820" y="2860449"/>
            <a:ext cx="600075" cy="476250"/>
          </a:xfrm>
          <a:prstGeom prst="rect">
            <a:avLst/>
          </a:prstGeom>
        </p:spPr>
      </p:pic>
      <p:pic>
        <p:nvPicPr>
          <p:cNvPr id="10" name="Obrázek 9" descr="Obsah obrázku Grafika, origami&#10;&#10;Obsah generovaný pomocí AI může být nesprávný.">
            <a:extLst>
              <a:ext uri="{FF2B5EF4-FFF2-40B4-BE49-F238E27FC236}">
                <a16:creationId xmlns:a16="http://schemas.microsoft.com/office/drawing/2014/main" id="{83B31F89-9E1A-8DC9-2B30-A6E7D8888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821" y="3548272"/>
            <a:ext cx="600075" cy="476250"/>
          </a:xfrm>
          <a:prstGeom prst="rect">
            <a:avLst/>
          </a:prstGeom>
        </p:spPr>
      </p:pic>
      <p:pic>
        <p:nvPicPr>
          <p:cNvPr id="11" name="Obrázek 10" descr="Obsah obrázku Grafika, origami&#10;&#10;Obsah generovaný pomocí AI může být nesprávný.">
            <a:extLst>
              <a:ext uri="{FF2B5EF4-FFF2-40B4-BE49-F238E27FC236}">
                <a16:creationId xmlns:a16="http://schemas.microsoft.com/office/drawing/2014/main" id="{0F6F1B4C-6808-A506-BE09-A03741AAB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820" y="4168661"/>
            <a:ext cx="600075" cy="476250"/>
          </a:xfrm>
          <a:prstGeom prst="rect">
            <a:avLst/>
          </a:prstGeom>
        </p:spPr>
      </p:pic>
      <p:pic>
        <p:nvPicPr>
          <p:cNvPr id="12" name="Obrázek 11" descr="Obsah obrázku Grafika, origami&#10;&#10;Obsah generovaný pomocí AI může být nesprávný.">
            <a:extLst>
              <a:ext uri="{FF2B5EF4-FFF2-40B4-BE49-F238E27FC236}">
                <a16:creationId xmlns:a16="http://schemas.microsoft.com/office/drawing/2014/main" id="{D1D3F97B-66B1-F6D5-A678-E4537DBEC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821" y="4876715"/>
            <a:ext cx="600075" cy="476250"/>
          </a:xfrm>
          <a:prstGeom prst="rect">
            <a:avLst/>
          </a:prstGeom>
        </p:spPr>
      </p:pic>
      <p:pic>
        <p:nvPicPr>
          <p:cNvPr id="13" name="Obrázek 12" descr="Obsah obrázku Grafika, origami&#10;&#10;Obsah generovaný pomocí AI může být nesprávný.">
            <a:extLst>
              <a:ext uri="{FF2B5EF4-FFF2-40B4-BE49-F238E27FC236}">
                <a16:creationId xmlns:a16="http://schemas.microsoft.com/office/drawing/2014/main" id="{E26A98FA-1F03-BEEA-B69F-0DC1075F2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821" y="5503847"/>
            <a:ext cx="60007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97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5A0DD5F-9D7C-234D-BBCB-4B088545D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17</a:t>
            </a:fld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EDDB3C1C-78A3-FD45-9288-66B6297FA8A9}"/>
              </a:ext>
            </a:extLst>
          </p:cNvPr>
          <p:cNvSpPr/>
          <p:nvPr/>
        </p:nvSpPr>
        <p:spPr>
          <a:xfrm>
            <a:off x="3455670" y="2194173"/>
            <a:ext cx="5280660" cy="707886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cs-CZ" sz="4000" b="1" dirty="0">
                <a:solidFill>
                  <a:srgbClr val="00A4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Děkuji za pozornost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408D255-5881-3A44-BC2B-29C775205970}"/>
              </a:ext>
            </a:extLst>
          </p:cNvPr>
          <p:cNvSpPr/>
          <p:nvPr/>
        </p:nvSpPr>
        <p:spPr>
          <a:xfrm>
            <a:off x="3048000" y="3500527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lvl="2"/>
            <a:r>
              <a:rPr lang="cs-CZ" sz="2000" b="1" dirty="0">
                <a:solidFill>
                  <a:srgbClr val="00A4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Jakub Hradil, HRA0279</a:t>
            </a:r>
          </a:p>
        </p:txBody>
      </p:sp>
    </p:spTree>
    <p:extLst>
      <p:ext uri="{BB962C8B-B14F-4D97-AF65-F5344CB8AC3E}">
        <p14:creationId xmlns:p14="http://schemas.microsoft.com/office/powerpoint/2010/main" val="22641723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40 FEI CZ verze" id="{6C08F42E-4C42-1248-AFBD-44B85FF3097C}" vid="{625188C0-F481-6D4D-9D88-9817E5AEE6D9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40 FEI CZ verze" id="{6C08F42E-4C42-1248-AFBD-44B85FF3097C}" vid="{D4DD8BDB-1D41-D74E-BC7B-57F90FB64D14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8F87100CE6DE6418AC8DEE4271ED505" ma:contentTypeVersion="9" ma:contentTypeDescription="Vytvoří nový dokument" ma:contentTypeScope="" ma:versionID="93214203f212bce195cdf668671af98b">
  <xsd:schema xmlns:xsd="http://www.w3.org/2001/XMLSchema" xmlns:xs="http://www.w3.org/2001/XMLSchema" xmlns:p="http://schemas.microsoft.com/office/2006/metadata/properties" xmlns:ns3="345db4f9-8862-462f-be10-f6199e50d5a9" xmlns:ns4="3a4edf8d-6495-407a-a021-4ac06811ee25" targetNamespace="http://schemas.microsoft.com/office/2006/metadata/properties" ma:root="true" ma:fieldsID="e81ebd0b66c851a9331b83b2ecb8953d" ns3:_="" ns4:_="">
    <xsd:import namespace="345db4f9-8862-462f-be10-f6199e50d5a9"/>
    <xsd:import namespace="3a4edf8d-6495-407a-a021-4ac06811ee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5db4f9-8862-462f-be10-f6199e50d5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edf8d-6495-407a-a021-4ac06811ee2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5db4f9-8862-462f-be10-f6199e50d5a9" xsi:nil="true"/>
  </documentManagement>
</p:properties>
</file>

<file path=customXml/itemProps1.xml><?xml version="1.0" encoding="utf-8"?>
<ds:datastoreItem xmlns:ds="http://schemas.openxmlformats.org/officeDocument/2006/customXml" ds:itemID="{B66EEB5E-52A2-483E-811E-B0A1B4575C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5db4f9-8862-462f-be10-f6199e50d5a9"/>
    <ds:schemaRef ds:uri="3a4edf8d-6495-407a-a021-4ac06811ee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6411C8-60D6-45B4-8E5B-4F4F470275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C872D4-5734-4DE4-8C0C-77D6CD634D85}">
  <ds:schemaRefs>
    <ds:schemaRef ds:uri="http://purl.org/dc/terms/"/>
    <ds:schemaRef ds:uri="3a4edf8d-6495-407a-a021-4ac06811ee25"/>
    <ds:schemaRef ds:uri="http://schemas.microsoft.com/office/2006/documentManagement/types"/>
    <ds:schemaRef ds:uri="345db4f9-8862-462f-be10-f6199e50d5a9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450_16x9</Template>
  <TotalTime>100</TotalTime>
  <Words>400</Words>
  <Application>Microsoft Office PowerPoint</Application>
  <PresentationFormat>Širokoúhlá obrazovka</PresentationFormat>
  <Paragraphs>112</Paragraphs>
  <Slides>18</Slides>
  <Notes>3</Notes>
  <HiddenSlides>1</HiddenSlides>
  <MMClips>0</MMClips>
  <ScaleCrop>false</ScaleCrop>
  <HeadingPairs>
    <vt:vector size="4" baseType="variant">
      <vt:variant>
        <vt:lpstr>Motiv</vt:lpstr>
      </vt:variant>
      <vt:variant>
        <vt:i4>2</vt:i4>
      </vt:variant>
      <vt:variant>
        <vt:lpstr>Nadpisy snímků</vt:lpstr>
      </vt:variant>
      <vt:variant>
        <vt:i4>18</vt:i4>
      </vt:variant>
    </vt:vector>
  </HeadingPairs>
  <TitlesOfParts>
    <vt:vector size="20" baseType="lpstr">
      <vt:lpstr>Motiv Office</vt:lpstr>
      <vt:lpstr>Custom Design</vt:lpstr>
      <vt:lpstr>Prezentace aplikace PowerPoint</vt:lpstr>
      <vt:lpstr>Vývoj demonstračního firmware pro výukovou desku s platformou ESP32 </vt:lpstr>
      <vt:lpstr>Cíl práce</vt:lpstr>
      <vt:lpstr>Přehled hardware</vt:lpstr>
      <vt:lpstr>Přehled hardware</vt:lpstr>
      <vt:lpstr>Architektura systému</vt:lpstr>
      <vt:lpstr>Architektura systému</vt:lpstr>
      <vt:lpstr>Ovládání systému</vt:lpstr>
      <vt:lpstr>Webové rozhraní</vt:lpstr>
      <vt:lpstr>Moduly</vt:lpstr>
      <vt:lpstr>Modul PPG</vt:lpstr>
      <vt:lpstr>Modul MPU</vt:lpstr>
      <vt:lpstr>Modul Snake</vt:lpstr>
      <vt:lpstr>Modul RGB</vt:lpstr>
      <vt:lpstr>Modul Nastavení</vt:lpstr>
      <vt:lpstr>Závěr</vt:lpstr>
      <vt:lpstr>Cíl práce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Hudsky Martin</dc:creator>
  <cp:lastModifiedBy>Jakub Hradil</cp:lastModifiedBy>
  <cp:revision>256</cp:revision>
  <dcterms:created xsi:type="dcterms:W3CDTF">2020-12-07T10:04:17Z</dcterms:created>
  <dcterms:modified xsi:type="dcterms:W3CDTF">2026-04-18T13:46:16Z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0x010100E8F87100CE6DE6418AC8DEE4271ED505</vt:lpwstr>
  </property>
</Properties>
</file>